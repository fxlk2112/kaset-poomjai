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858a0e261940e5" /><Relationship Type="http://schemas.openxmlformats.org/officeDocument/2006/relationships/extended-properties" Target="/docProps/app.xml" Id="R2252844e39a74bd0" /><Relationship Type="http://schemas.openxmlformats.org/officeDocument/2006/relationships/officeDocument" Target="/ppt/presentation.xml" Id="Rdff61156203e42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bc98082a94cd2"/>
  </p:sldMasterIdLst>
  <p:notesMasterIdLst>
    <p:notesMasterId xmlns:r="http://schemas.openxmlformats.org/officeDocument/2006/relationships" r:id="R71df131b846446b6"/>
  </p:notesMasterIdLst>
  <p:sldIdLst>
    <p:sldId xmlns:r="http://schemas.openxmlformats.org/officeDocument/2006/relationships" id="256" r:id="R5c6b49c2ede146fb"/>
    <p:sldId xmlns:r="http://schemas.openxmlformats.org/officeDocument/2006/relationships" id="257" r:id="R17d05e21ef4546d9"/>
    <p:sldId xmlns:r="http://schemas.openxmlformats.org/officeDocument/2006/relationships" id="258" r:id="R052e66d2785f4a9c"/>
    <p:sldId xmlns:r="http://schemas.openxmlformats.org/officeDocument/2006/relationships" id="259" r:id="Ra5e7fb999b5c4c45"/>
    <p:sldId xmlns:r="http://schemas.openxmlformats.org/officeDocument/2006/relationships" id="260" r:id="R5372850c336b41e8"/>
    <p:sldId xmlns:r="http://schemas.openxmlformats.org/officeDocument/2006/relationships" id="261" r:id="R53c9974c6f6146bb"/>
    <p:sldId xmlns:r="http://schemas.openxmlformats.org/officeDocument/2006/relationships" id="262" r:id="R166f6d2c19f6423f"/>
    <p:sldId xmlns:r="http://schemas.openxmlformats.org/officeDocument/2006/relationships" id="263" r:id="R0a04c8e2d8ed4e0b"/>
    <p:sldId xmlns:r="http://schemas.openxmlformats.org/officeDocument/2006/relationships" id="264" r:id="Rbdfc585db3954a8b"/>
    <p:sldId xmlns:r="http://schemas.openxmlformats.org/officeDocument/2006/relationships" id="265" r:id="R4c454d11d6514e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26f18c4d4e4140" /><Relationship Type="http://schemas.openxmlformats.org/officeDocument/2006/relationships/slideMaster" Target="/ppt/slideMasters/slideMaster1.xml" Id="R1b6bc98082a94cd2" /><Relationship Type="http://schemas.openxmlformats.org/officeDocument/2006/relationships/notesMaster" Target="/ppt/notesMasters/notesMaster1.xml" Id="R71df131b846446b6" /><Relationship Type="http://schemas.openxmlformats.org/officeDocument/2006/relationships/presProps" Target="/ppt/presProps.xml" Id="Rc654c376c3bd4969" /><Relationship Type="http://schemas.openxmlformats.org/officeDocument/2006/relationships/tableStyles" Target="/ppt/tableStyles.xml" Id="R518229b48d274809" /><Relationship Type="http://schemas.openxmlformats.org/officeDocument/2006/relationships/slide" Target="/ppt/slides/slide1.xml" Id="R5c6b49c2ede146fb" /><Relationship Type="http://schemas.openxmlformats.org/officeDocument/2006/relationships/slide" Target="/ppt/slides/slide2.xml" Id="R17d05e21ef4546d9" /><Relationship Type="http://schemas.openxmlformats.org/officeDocument/2006/relationships/slide" Target="/ppt/slides/slide3.xml" Id="R052e66d2785f4a9c" /><Relationship Type="http://schemas.openxmlformats.org/officeDocument/2006/relationships/slide" Target="/ppt/slides/slide4.xml" Id="Ra5e7fb999b5c4c45" /><Relationship Type="http://schemas.openxmlformats.org/officeDocument/2006/relationships/slide" Target="/ppt/slides/slide5.xml" Id="R5372850c336b41e8" /><Relationship Type="http://schemas.openxmlformats.org/officeDocument/2006/relationships/slide" Target="/ppt/slides/slide6.xml" Id="R53c9974c6f6146bb" /><Relationship Type="http://schemas.openxmlformats.org/officeDocument/2006/relationships/slide" Target="/ppt/slides/slide7.xml" Id="R166f6d2c19f6423f" /><Relationship Type="http://schemas.openxmlformats.org/officeDocument/2006/relationships/slide" Target="/ppt/slides/slide8.xml" Id="R0a04c8e2d8ed4e0b" /><Relationship Type="http://schemas.openxmlformats.org/officeDocument/2006/relationships/slide" Target="/ppt/slides/slide9.xml" Id="Rbdfc585db3954a8b" /><Relationship Type="http://schemas.openxmlformats.org/officeDocument/2006/relationships/slide" Target="/ppt/slides/slide10.xml" Id="R4c454d11d6514e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5ce3cc5aff4c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aa14ac6cc14263" /><Relationship Type="http://schemas.openxmlformats.org/officeDocument/2006/relationships/notesMaster" Target="/ppt/notesMasters/notesMaster1.xml" Id="Rd74410339b6f4b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f9d25db3784bc4" /><Relationship Type="http://schemas.openxmlformats.org/officeDocument/2006/relationships/notesMaster" Target="/ppt/notesMasters/notesMaster1.xml" Id="Rdbbc8c6fd7f64c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2d9a38167a4f50" /><Relationship Type="http://schemas.openxmlformats.org/officeDocument/2006/relationships/notesMaster" Target="/ppt/notesMasters/notesMaster1.xml" Id="R1817587efac94a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d0c94870e4469a" /><Relationship Type="http://schemas.openxmlformats.org/officeDocument/2006/relationships/notesMaster" Target="/ppt/notesMasters/notesMaster1.xml" Id="Rf7bf056ca22a4b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76fecb208e4891" /><Relationship Type="http://schemas.openxmlformats.org/officeDocument/2006/relationships/notesMaster" Target="/ppt/notesMasters/notesMaster1.xml" Id="R9679e6b920d045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472976bf724b9c" /><Relationship Type="http://schemas.openxmlformats.org/officeDocument/2006/relationships/notesMaster" Target="/ppt/notesMasters/notesMaster1.xml" Id="Rea7bfc6b1cd040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0db83518914df4" /><Relationship Type="http://schemas.openxmlformats.org/officeDocument/2006/relationships/notesMaster" Target="/ppt/notesMasters/notesMaster1.xml" Id="Re177298683054b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3070ec279a4a0d" /><Relationship Type="http://schemas.openxmlformats.org/officeDocument/2006/relationships/notesMaster" Target="/ppt/notesMasters/notesMaster1.xml" Id="R71ae6b783f1d4e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b7913fa17948a4" /><Relationship Type="http://schemas.openxmlformats.org/officeDocument/2006/relationships/notesMaster" Target="/ppt/notesMasters/notesMaster1.xml" Id="Reec7c5616bf548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c26c1aad624197" /><Relationship Type="http://schemas.openxmlformats.org/officeDocument/2006/relationships/notesMaster" Target="/ppt/notesMasters/notesMaster1.xml" Id="R73eae455248141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เปิดด้วยคำถาม: ถ้าเราเห็นแปลงจากมุมสูง เราจะตัดสินใจอะไรได้บ้าง</a:t>
            </a:r>
          </a:p>
          <a:p xmlns:a="http://schemas.openxmlformats.org/drawingml/2006/main">
            <a:r>
              <a:t>ชี้ให้เห็นว่าบทเรียนนี้ไม่ได้สอนแค่บินโดรน แต่สอนการแปลงภาพให้เป็นการจัดการฟาร์ม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Image: FAO Digital Villages Initiative / Xinhua - https://www.fao.org/digital-villages-initiative/asia-pacific/digital-villages-list/en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ใช้สไลด์นี้วางกรอบคิด: ไม่ใช่เทคโนโลยีแทนคน แต่เป็นเครื่องมือช่วยถามคำถามได้เร็วขึ้น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DJI Mavic 3M overview: https://ag.dji.com/mavic-3-m</a:t>
            </a:r>
          </a:p>
          <a:p xmlns:a="http://schemas.openxmlformats.org/drawingml/2006/main">
            <a:r>
              <a:t>FARMULTIMATE concept based on this project structure and 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อธิบายให้น้องเห็นความต่างระหว่างภาพถ่ายสวยกับข้อมูลเชิงแสงของพืช</a:t>
            </a:r>
          </a:p>
          <a:p xmlns:a="http://schemas.openxmlformats.org/drawingml/2006/main">
            <a:r>
              <a:t>เน้นว่า RTK สำคัญเพราะเราต้องกลับไปตรวจจุดเดิมในแปลงให้ได้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DJI Mavic 3M product page: https://ag.dji.com/mavic-3-m</a:t>
            </a:r>
          </a:p>
          <a:p xmlns:a="http://schemas.openxmlformats.org/drawingml/2006/main">
            <a:r>
              <a:t>DJI Mavic 3M specs: https://ag.dji.com/mavic-3-m/specs</a:t>
            </a:r>
          </a:p>
          <a:p xmlns:a="http://schemas.openxmlformats.org/drawingml/2006/main">
            <a:r>
              <a:t>Image: Globe-Flight product photo of DJI Mavic 3M - https://www.globe-flight.de/Agriculture_solution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สไลด์นี้ใช้เปรียบเทียบง่าย ๆ ว่าแต่ละแถบคลื่นเหมือนช่องทางดูพืชคนละแบบ</a:t>
            </a:r>
          </a:p>
          <a:p xmlns:a="http://schemas.openxmlformats.org/drawingml/2006/main">
            <a:r>
              <a:t>ย้ำว่าค่าดัชนีเป็นการคัดกรอง ต้องตรวจภาคสนามประกอบ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DJI Mavic 3M specs list band centers: https://ag.dji.com/mavic-3-m/specs</a:t>
            </a:r>
          </a:p>
          <a:p xmlns:a="http://schemas.openxmlformats.org/drawingml/2006/main">
            <a:r>
              <a:t>Pix4D vegetation index overview: https://www.pix4d.com/blog/pix4dfields-vegetation-indices-for-precision-agriculture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กิจกรรม: ให้น้องเลือก 1 จุดเขียว 1 จุดเหลือง 1 จุดแดง แล้วตั้งสมมติฐานสาเหตุ</a:t>
            </a:r>
          </a:p>
          <a:p xmlns:a="http://schemas.openxmlformats.org/drawingml/2006/main">
            <a:r>
              <a:t>ตัวอย่างคำถาม: ขาดน้ำไหม ดินต่างไหม โรคหรือแมลงไหม มีการใส่ปุ๋ยต่างกันไหม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Image: Envirevo Agritech crop scouting NDVI example - https://envirevoagritech.com/drones-for-crop-scouting/</a:t>
            </a:r>
          </a:p>
          <a:p xmlns:a="http://schemas.openxmlformats.org/drawingml/2006/main">
            <a:r>
              <a:t>Pix4D explains NDVI/NDRE use in precision agriculture: https://www.pix4d.com/blog/pix4dfields-vegetation-indices-for-precision-agriculture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เล่าเป็นเส้นทางเดียว: ก่อนบินต้องรู้ว่าจะเอาข้อมูลไปตัดสินใจอะไร</a:t>
            </a:r>
          </a:p>
          <a:p xmlns:a="http://schemas.openxmlformats.org/drawingml/2006/main">
            <a:r>
              <a:t>หลังดูแผนที่ต้องมีการตรวจภาคสนาม และข้อมูลสุดท้ายควรกลับเข้าระบบบันทึก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DJI SmartFarm Web supports farmland imagery, prescription maps, and records: https://ag.dji.com/smartfarm-web</a:t>
            </a:r>
          </a:p>
          <a:p xmlns:a="http://schemas.openxmlformats.org/drawingml/2006/main">
            <a:r>
              <a:t>FARMULTIMATE workflow based on this project feature 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โยงกลับปัญหาที่เคยคุยกัน: ถ้าทุกพืชและทุกกิจกรรมรวมกัน คนดูจะไม่รู้ว่าประวัติไหนเป็นของรอบปลูกไหน</a:t>
            </a:r>
          </a:p>
          <a:p xmlns:a="http://schemas.openxmlformats.org/drawingml/2006/main">
            <a:r>
              <a:t>โปรแกรมจึงควรแยกข้อมูลตามบริบทการปลูกจริง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FARMULTIMATE concept based on this local project and recent crop-cycle sharing/Product Passport changes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ใช้สไลด์นี้เป็น roadmap ระหว่างสอน เพื่อคุมเวลาให้พอดี 1.30 ชั่วโมง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Lesson plan created for this requested classroom use 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แบ่งกลุ่ม 3-5 คน ให้แต่ละกลุ่มเลือกจุดต่างกัน แล้วให้เหตุผล ไม่ต้องเน้นตอบถูกอย่างเดียว</a:t>
            </a:r>
          </a:p>
          <a:p xmlns:a="http://schemas.openxmlformats.org/drawingml/2006/main">
            <a:r>
              <a:t>ครูช่วยดึงกลับว่าข้อมูลภาพต้องผูกกับบันทึกกิจกรรมจึงจะใช้บริหารฟาร์มได้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Image: Envirevo Agritech crop scouting NDVI example - https://envirevoagritech.com/drones-for-crop-scouting/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ปิดท้ายด้วยการชวนให้น้องมองเทคโนโลยีเกษตรเป็นวงจรข้อมูล ไม่ใช่อุปกรณ์ชิ้นเดียว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DJI Mavic 3M: https://ag.dji.com/mavic-3-m</a:t>
            </a:r>
          </a:p>
          <a:p xmlns:a="http://schemas.openxmlformats.org/drawingml/2006/main">
            <a:r>
              <a:t>DJI specs: https://ag.dji.com/mavic-3-m/specs</a:t>
            </a:r>
          </a:p>
          <a:p xmlns:a="http://schemas.openxmlformats.org/drawingml/2006/main">
            <a:r>
              <a:t>Pix4D vegetation indices: https://www.pix4d.com/blog/pix4dfields-vegetation-indices-for-precision-agriculture</a:t>
            </a:r>
          </a:p>
          <a:p xmlns:a="http://schemas.openxmlformats.org/drawingml/2006/main">
            <a:r>
              <a:t>FAO Digital Villages image/context: https://www.fao.org/digital-villages-initiative/asia-pacific/digital-villages-list/en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9d8f37eec48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9c27fdb887438c" /><Relationship Type="http://schemas.openxmlformats.org/officeDocument/2006/relationships/slideLayout" Target="/ppt/slideLayouts/slideLayout1.xml" Id="R42ed4e6b320f4e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ed4e6b320f4e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188b0c0b3405a" /><Relationship Type="http://schemas.openxmlformats.org/officeDocument/2006/relationships/image" Target="/ppt/media/image.png" Id="R6fabbc12873a4688" /><Relationship Type="http://schemas.openxmlformats.org/officeDocument/2006/relationships/notesSlide" Target="/ppt/notesSlides/notesSlide1.xml" Id="Raecdd95957a348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1f86a93554c90" /><Relationship Type="http://schemas.openxmlformats.org/officeDocument/2006/relationships/notesSlide" Target="/ppt/notesSlides/notesSlide2.xml" Id="R5bae44f00cf149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e13f160b749d9" /><Relationship Type="http://schemas.openxmlformats.org/officeDocument/2006/relationships/image" Target="/ppt/media/image.jpeg" Id="R95423cc2f2124915" /><Relationship Type="http://schemas.openxmlformats.org/officeDocument/2006/relationships/notesSlide" Target="/ppt/notesSlides/notesSlide3.xml" Id="Rfdf32fa989ba4b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9252b83904076" /><Relationship Type="http://schemas.openxmlformats.org/officeDocument/2006/relationships/notesSlide" Target="/ppt/notesSlides/notesSlide4.xml" Id="R6433931fa12e45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f7690b9094f3a" /><Relationship Type="http://schemas.openxmlformats.org/officeDocument/2006/relationships/image" Target="/ppt/media/image.bin" Id="R908ffacbeb7c43a5" /><Relationship Type="http://schemas.openxmlformats.org/officeDocument/2006/relationships/notesSlide" Target="/ppt/notesSlides/notesSlide5.xml" Id="Rd73dd3dad7af4f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295ea28664c15" /><Relationship Type="http://schemas.openxmlformats.org/officeDocument/2006/relationships/notesSlide" Target="/ppt/notesSlides/notesSlide6.xml" Id="R7353e78796224d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9105cd93f4840" /><Relationship Type="http://schemas.openxmlformats.org/officeDocument/2006/relationships/notesSlide" Target="/ppt/notesSlides/notesSlide7.xml" Id="Rc45e9bf0c54145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c825537bf4b9a" /><Relationship Type="http://schemas.openxmlformats.org/officeDocument/2006/relationships/notesSlide" Target="/ppt/notesSlides/notesSlide8.xml" Id="Rd0c45ab178fe4f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54d1b59ba44ed" /><Relationship Type="http://schemas.openxmlformats.org/officeDocument/2006/relationships/image" Target="/ppt/media/image2.bin" Id="R80a11d90730c4dbd" /><Relationship Type="http://schemas.openxmlformats.org/officeDocument/2006/relationships/notesSlide" Target="/ppt/notesSlides/notesSlide9.xml" Id="Rbb85d87ade314a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d868e50b14a3d" /><Relationship Type="http://schemas.openxmlformats.org/officeDocument/2006/relationships/notesSlide" Target="/ppt/notesSlides/notesSlide10.xml" Id="Rf328ce020bc147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bbc12873a4688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3CDCF-CEA9-4686-9F19-FEFC78E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2ECEF-DB36-472A-83F2-46C5B3EA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1B65C"/>
                </a:solidFill>
              </a:defRPr>
            </a:pPr>
            <a:r>
              <a:rPr sz="1350" b="1">
                <a:solidFill>
                  <a:srgbClr val="E1B65C"/>
                </a:solidFill>
              </a:rPr>
              <a:t>ห้องเรียนเกษตรแม่นยำ 90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099EA-A681-4CF2-AFAA-D006DE3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04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DF6"/>
                </a:solidFill>
              </a:defRPr>
            </a:pPr>
            <a:r>
              <a:rPr sz="4350" b="1">
                <a:solidFill>
                  <a:srgbClr val="FFFDF6"/>
                </a:solidFill>
              </a:rPr>
              <a:t>Mavic 3M + FARMULTIMATE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26B8E-15BF-4167-885D-8664E54C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7EE"/>
                </a:solidFill>
              </a:defRPr>
            </a:pPr>
            <a:r>
              <a:rPr sz="2025" b="0">
                <a:solidFill>
                  <a:srgbClr val="EDF7EE"/>
                </a:solidFill>
              </a:rPr>
              <a:t>เห็นแปลงจากฟ้า เข้าใจพืชจากข้อมูล แล้วบันทึกงานให้ตรวจสอบได้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DA84E-B23E-4D7C-8CE4-94B2B31C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638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EAD18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15172-0A9D-4981-B8A2-9DC726F2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21E"/>
                </a:solidFill>
              </a:defRPr>
            </a:pPr>
            <a:r>
              <a:rPr sz="975" b="1">
                <a:solidFill>
                  <a:srgbClr val="6E521E"/>
                </a:solidFill>
              </a:rPr>
              <a:t>Drone = eyes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283C5-32D0-40EE-A05D-B2D1BFA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43500"/>
            <a:ext cx="2095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EAD1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1FD42-B78B-47A0-97CE-FCB8B4BF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01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21E"/>
                </a:solidFill>
              </a:defRPr>
            </a:pPr>
            <a:r>
              <a:rPr sz="975" b="1">
                <a:solidFill>
                  <a:srgbClr val="6E521E"/>
                </a:solidFill>
              </a:rPr>
              <a:t>Software =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F18C6-8596-4723-B6FB-88107432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BE9DF"/>
                </a:solidFill>
              </a:defRPr>
            </a:pPr>
            <a:r>
              <a:rPr sz="900" b="0">
                <a:solidFill>
                  <a:srgbClr val="DBE9DF"/>
                </a:solidFill>
              </a:rPr>
              <a:t>ภาพ: FAO Digital Villages Initiative / Xinhua</a:t>
            </a:r>
          </a:p>
        </p:txBody>
      </p:sp>
    </p:spTree>
    <p:extLst>
      <p:ext uri="{BB962C8B-B14F-4D97-AF65-F5344CB8AC3E}">
        <p14:creationId xmlns:p14="http://schemas.microsoft.com/office/powerpoint/2010/main" val="452634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D7C9E-C348-466D-B194-D357DCF6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6623"/>
                </a:solidFill>
              </a:defRPr>
            </a:pPr>
            <a:r>
              <a:rPr sz="1050" b="1">
                <a:solidFill>
                  <a:srgbClr val="8A6623"/>
                </a:solidFill>
              </a:rPr>
              <a:t>BIG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FC463-AC24-4584-9A98-3AB572E5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51D"/>
                </a:solidFill>
              </a:defRPr>
            </a:pPr>
            <a:r>
              <a:rPr sz="3225" b="1">
                <a:solidFill>
                  <a:srgbClr val="13251D"/>
                </a:solidFill>
              </a:rPr>
              <a:t>โดรนคือ “ตา” โปรแกรมคือ “สมุดความจำและระบบตัดสินใจ”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C0D72-362F-4D67-8857-F4381FB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168"/>
                </a:solidFill>
              </a:defRPr>
            </a:pPr>
            <a:r>
              <a:rPr sz="1575" b="0">
                <a:solidFill>
                  <a:srgbClr val="627168"/>
                </a:solidFill>
              </a:rPr>
              <a:t>ภาพถ่ายช่วยให้เห็นเร็ว แต่ข้อมูลแปลง พืช รอบปลูก และกิจกรรม ช่วยให้ตัดสินใจอย่างมีหลักฐาน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B52E1-1E72-41DC-8684-F9ED1115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3337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173AB-E7D5-48A7-AD2B-28D9B0A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59CAE-8BA9-4F06-8990-2DF4386D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51D"/>
                </a:solidFill>
              </a:defRPr>
            </a:pPr>
            <a:r>
              <a:rPr sz="2025" b="1">
                <a:solidFill>
                  <a:srgbClr val="13251D"/>
                </a:solidFill>
              </a:rPr>
              <a:t>เห็นเร็ว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4CC62-9A5E-4D6E-99A5-1624575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168"/>
                </a:solidFill>
              </a:defRPr>
            </a:pPr>
            <a:r>
              <a:rPr sz="1350" b="0">
                <a:solidFill>
                  <a:srgbClr val="627168"/>
                </a:solidFill>
              </a:rPr>
              <a:t>ดูสีใบ แถวปลูก พื้นที่ไม่สม่ำเสมอ และจุดที่ควรเดินลงไปตรวจ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98788-9550-4F7B-88D4-2EA54EEF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52850"/>
            <a:ext cx="33337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93A97-73F0-4624-849B-640D1F96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A6435-1283-4EA8-8FE5-92F421C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053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51D"/>
                </a:solidFill>
              </a:defRPr>
            </a:pPr>
            <a:r>
              <a:rPr sz="2025" b="1">
                <a:solidFill>
                  <a:srgbClr val="13251D"/>
                </a:solidFill>
              </a:rPr>
              <a:t>ตั้งคำถามแม่น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807FC-1D95-4061-853A-B6F36251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168"/>
                </a:solidFill>
              </a:defRPr>
            </a:pPr>
            <a:r>
              <a:rPr sz="1350" b="0">
                <a:solidFill>
                  <a:srgbClr val="627168"/>
                </a:solidFill>
              </a:rPr>
              <a:t>NDVI/NDRE ไม่ได้ฟันธงโรค แต่ช่วยบอกว่าแปลงจุดไหนต้องถามต่อ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7A57C-646A-4930-9DE1-B1C332DF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33337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3DDC5-6A66-4D0A-AF20-89E75694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71155-F454-42D3-9892-8F03A6A4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51D"/>
                </a:solidFill>
              </a:defRPr>
            </a:pPr>
            <a:r>
              <a:rPr sz="2025" b="1">
                <a:solidFill>
                  <a:srgbClr val="13251D"/>
                </a:solidFill>
              </a:rPr>
              <a:t>บันทึกตรวจสอบได้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29B14-6B4E-44C0-B355-8BA7A4CB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958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168"/>
                </a:solidFill>
              </a:defRPr>
            </a:pPr>
            <a:r>
              <a:rPr sz="1350" b="0">
                <a:solidFill>
                  <a:srgbClr val="627168"/>
                </a:solidFill>
              </a:rPr>
              <a:t>FARMULTIMATE แยกแปลง พืช รอบปลูก กิจกรรม ต้นทุน และ QR Product Passport</a:t>
            </a:r>
          </a:p>
        </p:txBody>
      </p:sp>
    </p:spTree>
    <p:extLst>
      <p:ext uri="{BB962C8B-B14F-4D97-AF65-F5344CB8AC3E}">
        <p14:creationId xmlns:p14="http://schemas.microsoft.com/office/powerpoint/2010/main" val="1860487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23cc2f2124915"/>
          <a:srcRect xmlns:a="http://schemas.openxmlformats.org/drawingml/2006/main" l="0" t="4762" r="0" b="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685800"/>
            <a:ext cx="480060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44EB6-F70D-4A24-A079-37962D9C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6623"/>
                </a:solidFill>
              </a:defRPr>
            </a:pPr>
            <a:r>
              <a:rPr sz="1050" b="1">
                <a:solidFill>
                  <a:srgbClr val="8A6623"/>
                </a:solidFill>
              </a:rPr>
              <a:t>MAVIC 3M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736A9-439C-40F0-BB72-90E0665D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51D"/>
                </a:solidFill>
              </a:defRPr>
            </a:pPr>
            <a:r>
              <a:rPr sz="3225" b="1">
                <a:solidFill>
                  <a:srgbClr val="13251D"/>
                </a:solidFill>
              </a:rPr>
              <a:t>กล้อง RGB บอกสิ่งที่ตาเห็น กล้อง multispectral บอกสิ่งที่ตาไม่เห็น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F1423-49D6-4F74-B9E6-A9541911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168"/>
                </a:solidFill>
              </a:defRPr>
            </a:pPr>
            <a:r>
              <a:rPr sz="1725" b="0">
                <a:solidFill>
                  <a:srgbClr val="627168"/>
                </a:solidFill>
              </a:rPr>
              <a:t>Mavic 3M รวมกล้อง RGB 20MP กับกล้อง multispectral 4 x 5MP สำหรับ Green, Red, Red Edge และ NIR ใช้สร้างข้อมูลสุขภาพพืชและแผนที่สำรวจแปลง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83FB5-803C-484D-9295-A81E2401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676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6CCF4-AB0C-4546-9B5B-18852221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RGB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52B92-0302-4298-9916-F597AC76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</a:defRPr>
            </a:pPr>
            <a:r>
              <a:rPr sz="1650" b="1">
                <a:solidFill>
                  <a:srgbClr val="13251D"/>
                </a:solidFill>
              </a:rPr>
              <a:t>20MP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ECB7E-82FE-42C9-8A7E-517A24C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168"/>
                </a:solidFill>
              </a:defRPr>
            </a:pPr>
            <a:r>
              <a:rPr sz="1125" b="0">
                <a:solidFill>
                  <a:srgbClr val="627168"/>
                </a:solidFill>
              </a:rPr>
              <a:t>สีจริง รูปทรง แถวปลูก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10164-2207-490E-A8DC-13B61D25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52900"/>
            <a:ext cx="1676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8F83C-3F21-4882-8214-C6F0DA05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434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MULTI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C1BE-8DDA-40BC-A867-9267791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</a:defRPr>
            </a:pPr>
            <a:r>
              <a:rPr sz="1650" b="1">
                <a:solidFill>
                  <a:srgbClr val="13251D"/>
                </a:solidFill>
              </a:rPr>
              <a:t>4 x 5MP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A534E-F4B4-41D0-8608-B5CD3A3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168"/>
                </a:solidFill>
              </a:defRPr>
            </a:pPr>
            <a:r>
              <a:rPr sz="1125" b="0">
                <a:solidFill>
                  <a:srgbClr val="627168"/>
                </a:solidFill>
              </a:rPr>
              <a:t>G/R/RE/NIR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F8644-A614-4466-9990-166922FC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1676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41693-E00C-4CA0-B8EB-A69799F2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RTK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FEECF-035B-46CC-9BD3-6D88BC42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91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</a:defRPr>
            </a:pPr>
            <a:r>
              <a:rPr sz="1650" b="1">
                <a:solidFill>
                  <a:srgbClr val="13251D"/>
                </a:solidFill>
              </a:rPr>
              <a:t>แม่นยำ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535F1-AC57-4805-86F6-2CDAA8F4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530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168"/>
                </a:solidFill>
              </a:defRPr>
            </a:pPr>
            <a:r>
              <a:rPr sz="1125" b="0">
                <a:solidFill>
                  <a:srgbClr val="627168"/>
                </a:solidFill>
              </a:rPr>
              <a:t>ผูกข้อมูลกับตำแหน่ง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3F010-D75A-46D9-97C6-BAE7A503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00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168"/>
                </a:solidFill>
              </a:defRPr>
            </a:pPr>
            <a:r>
              <a:rPr sz="900" b="0">
                <a:solidFill>
                  <a:srgbClr val="627168"/>
                </a:solidFill>
              </a:rPr>
              <a:t>ภาพ: Globe-Flight</a:t>
            </a:r>
          </a:p>
        </p:txBody>
      </p:sp>
    </p:spTree>
    <p:extLst>
      <p:ext uri="{BB962C8B-B14F-4D97-AF65-F5344CB8AC3E}">
        <p14:creationId xmlns:p14="http://schemas.microsoft.com/office/powerpoint/2010/main" val="396445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3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19482-06A2-4AC6-86BF-645D3204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DF6"/>
                </a:solidFill>
              </a:defRPr>
            </a:pPr>
            <a:r>
              <a:rPr sz="3225" b="1">
                <a:solidFill>
                  <a:srgbClr val="FFFDF6"/>
                </a:solidFill>
              </a:rPr>
              <a:t>4 แถบคลื่นที่ช่วยอ่านพืช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38852-4E36-4331-9245-B914254C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9DF"/>
                </a:solidFill>
              </a:defRPr>
            </a:pPr>
            <a:r>
              <a:rPr sz="1650" b="0">
                <a:solidFill>
                  <a:srgbClr val="DBE9DF"/>
                </a:solidFill>
              </a:rPr>
              <a:t>พืชสะท้อนแสงแต่ละช่วงคลื่นไม่เท่ากัน การวัดหลายแถบจึงช่วยจับความเครียดของพืชก่อนที่เราจะเห็นด้วยตาเปล่าในบางกรณี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70244-68F7-43A9-85AD-DF72EDB8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936C9-FB55-417D-9127-5A0957ED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D87D8-AEE5-41AC-AFEF-F2A33F77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51D"/>
                </a:solidFill>
              </a:defRPr>
            </a:pPr>
            <a:r>
              <a:rPr sz="1950" b="1">
                <a:solidFill>
                  <a:srgbClr val="13251D"/>
                </a:solidFill>
              </a:rPr>
              <a:t>Green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138A7-84C0-4E37-B858-09D8A4EC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A6623"/>
                </a:solidFill>
              </a:defRPr>
            </a:pPr>
            <a:r>
              <a:rPr sz="1500" b="1">
                <a:solidFill>
                  <a:srgbClr val="8A6623"/>
                </a:solidFill>
              </a:rPr>
              <a:t>560 nm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05566-EFE7-4506-A360-D95A46B9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168"/>
                </a:solidFill>
              </a:defRPr>
            </a:pPr>
            <a:r>
              <a:rPr sz="1200" b="0">
                <a:solidFill>
                  <a:srgbClr val="627168"/>
                </a:solidFill>
              </a:rPr>
              <a:t>ช่วยดูความเขียวและคลอโรฟิลล์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2A14A-07D4-4076-8E46-C642720E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B0C61-545B-4B89-9430-599FA9D8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D37C4-4473-490D-BEB6-4F9F086B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51D"/>
                </a:solidFill>
              </a:defRPr>
            </a:pPr>
            <a:r>
              <a:rPr sz="1950" b="1">
                <a:solidFill>
                  <a:srgbClr val="13251D"/>
                </a:solidFill>
              </a:rPr>
              <a:t>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6ECC6-E96E-4E9B-A410-4D3FADB6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29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A6623"/>
                </a:solidFill>
              </a:defRPr>
            </a:pPr>
            <a:r>
              <a:rPr sz="1500" b="1">
                <a:solidFill>
                  <a:srgbClr val="8A6623"/>
                </a:solidFill>
              </a:rPr>
              <a:t>650 nm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C57C0-8127-461F-94DF-D81A9586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863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168"/>
                </a:solidFill>
              </a:defRPr>
            </a:pPr>
            <a:r>
              <a:rPr sz="1200" b="0">
                <a:solidFill>
                  <a:srgbClr val="627168"/>
                </a:solidFill>
              </a:rPr>
              <a:t>ใช้คู่กับ NIR ใน NDVI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67637-AE12-44C3-A736-3CFE7E68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D9B83-A80C-4E38-81F5-41C669A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4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B936F-385A-4ACB-8298-B78DD32B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51D"/>
                </a:solidFill>
              </a:defRPr>
            </a:pPr>
            <a:r>
              <a:rPr sz="1950" b="1">
                <a:solidFill>
                  <a:srgbClr val="13251D"/>
                </a:solidFill>
              </a:rPr>
              <a:t>Red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18AB1-429B-441B-822D-35056BC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9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A6623"/>
                </a:solidFill>
              </a:defRPr>
            </a:pPr>
            <a:r>
              <a:rPr sz="1500" b="1">
                <a:solidFill>
                  <a:srgbClr val="8A6623"/>
                </a:solidFill>
              </a:rPr>
              <a:t>730 nm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E17DF-B85D-4FF1-9592-43DE6EA3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863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168"/>
                </a:solidFill>
              </a:defRPr>
            </a:pPr>
            <a:r>
              <a:rPr sz="1200" b="0">
                <a:solidFill>
                  <a:srgbClr val="627168"/>
                </a:solidFill>
              </a:rPr>
              <a:t>ไวต่อการเปลี่ยนแปลงของใบ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1520A-D167-4A3D-B82D-EEAB4212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0AF10-D01C-485D-9F46-8BBCCEA6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55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62F37E-882F-41A0-A990-01CDA86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51D"/>
                </a:solidFill>
              </a:defRPr>
            </a:pPr>
            <a:r>
              <a:rPr sz="1950" b="1">
                <a:solidFill>
                  <a:srgbClr val="13251D"/>
                </a:solidFill>
              </a:rPr>
              <a:t>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527C5-D7B9-429F-B01B-9ED7D3D8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29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A6623"/>
                </a:solidFill>
              </a:defRPr>
            </a:pPr>
            <a:r>
              <a:rPr sz="1500" b="1">
                <a:solidFill>
                  <a:srgbClr val="8A6623"/>
                </a:solidFill>
              </a:rPr>
              <a:t>860 nm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2762A-2477-4AB2-9482-3D9300E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168"/>
                </a:solidFill>
              </a:defRPr>
            </a:pPr>
            <a:r>
              <a:rPr sz="1200" b="0">
                <a:solidFill>
                  <a:srgbClr val="627168"/>
                </a:solidFill>
              </a:rPr>
              <a:t>พืชแข็งแรงมักสะท้อนสูง</a:t>
            </a:r>
          </a:p>
        </p:txBody>
      </p:sp>
    </p:spTree>
    <p:extLst>
      <p:ext uri="{BB962C8B-B14F-4D97-AF65-F5344CB8AC3E}">
        <p14:creationId xmlns:p14="http://schemas.microsoft.com/office/powerpoint/2010/main" val="589118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ffacbeb7c43a5"/>
          <a:srcRect xmlns:a="http://schemas.openxmlformats.org/drawingml/2006/main" l="6635" t="0" r="66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04850"/>
            <a:ext cx="5905500" cy="480060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6CAD3-1AEC-4915-A1E6-B3F0F289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76200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51D"/>
                </a:solidFill>
              </a:defRPr>
            </a:pPr>
            <a:r>
              <a:rPr sz="3150" b="1">
                <a:solidFill>
                  <a:srgbClr val="13251D"/>
                </a:solidFill>
              </a:rPr>
              <a:t>อ่าน NDVI แบบนักสืบภาคสนาม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B155C-F4CA-45C7-A49E-8C626AEB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90700"/>
            <a:ext cx="398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168"/>
                </a:solidFill>
              </a:defRPr>
            </a:pPr>
            <a:r>
              <a:rPr sz="1650" b="0">
                <a:solidFill>
                  <a:srgbClr val="627168"/>
                </a:solidFill>
              </a:rPr>
              <a:t>สีไม่ได้บอกคำตอบสุดท้าย แต่บอกว่าจะลงไปดูตรงไหนก่อน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515D3-B4AE-4F8A-B353-06076B7A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E162F-9BFF-4135-AD37-079439CC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05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</a:defRPr>
            </a:pPr>
            <a:r>
              <a:rPr sz="1725" b="1">
                <a:solidFill>
                  <a:srgbClr val="13251D"/>
                </a:solidFill>
              </a:rPr>
              <a:t>เขียวเข้ม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C1E5C-0FE2-40B1-A8C8-EA1EC693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168"/>
                </a:solidFill>
              </a:defRPr>
            </a:pPr>
            <a:r>
              <a:rPr sz="1275" b="0">
                <a:solidFill>
                  <a:srgbClr val="627168"/>
                </a:solidFill>
              </a:rPr>
              <a:t>พืชแข็งแรงหรือมีมวลใบสูง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994C9-82A8-4ECD-86D5-E2326ABC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B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F40F7-3550-4CC5-A366-6679673E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86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</a:defRPr>
            </a:pPr>
            <a:r>
              <a:rPr sz="1725" b="1">
                <a:solidFill>
                  <a:srgbClr val="13251D"/>
                </a:solidFill>
              </a:rPr>
              <a:t>เหลือง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54D6C-BCA9-4E41-A4FE-B02E1639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168"/>
                </a:solidFill>
              </a:defRPr>
            </a:pPr>
            <a:r>
              <a:rPr sz="1275" b="0">
                <a:solidFill>
                  <a:srgbClr val="627168"/>
                </a:solidFill>
              </a:rPr>
              <a:t>เริ่มต่างจากพื้นที่ดี ควรถามต่อ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43052-0DCC-4888-A8A9-ED9A99FB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14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6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E6D62-C6B4-40AA-ABA7-E9CC4A6C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672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</a:defRPr>
            </a:pPr>
            <a:r>
              <a:rPr sz="1725" b="1">
                <a:solidFill>
                  <a:srgbClr val="13251D"/>
                </a:solidFill>
              </a:rPr>
              <a:t>ส้ม/แดง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D80B1-98D1-4722-A832-0A0D37BC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00600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168"/>
                </a:solidFill>
              </a:defRPr>
            </a:pPr>
            <a:r>
              <a:rPr sz="1275" b="0">
                <a:solidFill>
                  <a:srgbClr val="627168"/>
                </a:solidFill>
              </a:rPr>
              <a:t>ต้องลงพื้นที่ตรวจสาเหตุจริง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119E6-3E35-4BC8-8F16-561CBA90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168"/>
                </a:solidFill>
              </a:defRPr>
            </a:pPr>
            <a:r>
              <a:rPr sz="900" b="0">
                <a:solidFill>
                  <a:srgbClr val="627168"/>
                </a:solidFill>
              </a:rPr>
              <a:t>ภาพ: Envirevo Agritech</a:t>
            </a:r>
          </a:p>
        </p:txBody>
      </p:sp>
    </p:spTree>
    <p:extLst>
      <p:ext uri="{BB962C8B-B14F-4D97-AF65-F5344CB8AC3E}">
        <p14:creationId xmlns:p14="http://schemas.microsoft.com/office/powerpoint/2010/main" val="895991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650D6-F327-4152-9E14-882911E0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6623"/>
                </a:solidFill>
              </a:defRPr>
            </a:pPr>
            <a:r>
              <a:rPr sz="1050" b="1">
                <a:solidFill>
                  <a:srgbClr val="8A6623"/>
                </a:solidFill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2C9FB-901C-4FB1-9199-01C911C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51D"/>
                </a:solidFill>
              </a:defRPr>
            </a:pPr>
            <a:r>
              <a:rPr sz="3225" b="1">
                <a:solidFill>
                  <a:srgbClr val="13251D"/>
                </a:solidFill>
              </a:rPr>
              <a:t>จากบินสำรวจ สู่การจัดการฟาร์ม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3AAB7-68EB-4448-89FD-8A55A98C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168"/>
                </a:solidFill>
              </a:defRPr>
            </a:pPr>
            <a:r>
              <a:rPr sz="1575" b="0">
                <a:solidFill>
                  <a:srgbClr val="627168"/>
                </a:solidFill>
              </a:rPr>
              <a:t>ลำดับนี้ช่วยให้น้องเข้าใจว่าโดรนไม่ได้จบที่ภาพ แต่ต้องเดินต่อถึงการตรวจภาคสนามและบันทึกงาน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BE397-42F3-4D69-BC53-246143DA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CF5DA-F122-410D-912E-DE2A5231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DF6"/>
                </a:solidFill>
              </a:defRPr>
            </a:pPr>
            <a:r>
              <a:rPr sz="2100" b="1">
                <a:solidFill>
                  <a:srgbClr val="FFFDF6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8B11B-3DB3-4A5C-8091-C699DCF0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51D"/>
                </a:solidFill>
              </a:defRPr>
            </a:pPr>
            <a:r>
              <a:rPr sz="1500" b="1">
                <a:solidFill>
                  <a:srgbClr val="13251D"/>
                </a:solidFill>
              </a:rPr>
              <a:t>วางแผนบิน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FDF6A-8066-4D03-9751-9FDCE3C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576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4EFE2-AE36-48AB-AAB5-5E0924B5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14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B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1C634-70DE-4B79-A3B2-E60126FB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481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51D"/>
                </a:solidFill>
              </a:defRPr>
            </a:pPr>
            <a:r>
              <a:rPr sz="2100" b="1">
                <a:solidFill>
                  <a:srgbClr val="13251D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416C1-1119-4CBF-977F-FDC99532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291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51D"/>
                </a:solidFill>
              </a:defRPr>
            </a:pPr>
            <a:r>
              <a:rPr sz="1500" b="1">
                <a:solidFill>
                  <a:srgbClr val="13251D"/>
                </a:solidFill>
              </a:rPr>
              <a:t>เก็บภาพ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25A05-56AC-476C-AB64-51DE151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576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FEAF6-6F85-4F7E-9F26-861D432F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93BEF-BC9A-459C-A24A-55A21606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DF6"/>
                </a:solidFill>
              </a:defRPr>
            </a:pPr>
            <a:r>
              <a:rPr sz="2100" b="1">
                <a:solidFill>
                  <a:srgbClr val="FFFDF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E3CAE-3D87-4745-9C67-74658FA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291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51D"/>
                </a:solidFill>
              </a:defRPr>
            </a:pPr>
            <a:r>
              <a:rPr sz="1500" b="1">
                <a:solidFill>
                  <a:srgbClr val="13251D"/>
                </a:solidFill>
              </a:rPr>
              <a:t>สร้างแผนที่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08FAD-3165-4EC5-951D-3E3B3413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576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CDF4F-BAD4-469C-83CB-AD240FCC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B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AED7B-34D9-48B2-9CFF-F1469097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51D"/>
                </a:solidFill>
              </a:defRPr>
            </a:pPr>
            <a:r>
              <a:rPr sz="2100" b="1">
                <a:solidFill>
                  <a:srgbClr val="13251D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7936C-3525-42E9-BE50-753A126C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291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51D"/>
                </a:solidFill>
              </a:defRPr>
            </a:pPr>
            <a:r>
              <a:rPr sz="1500" b="1">
                <a:solidFill>
                  <a:srgbClr val="13251D"/>
                </a:solidFill>
              </a:rPr>
              <a:t>ลงพื้นที่ตรวจ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82472-6F70-4B51-A1C2-F23DC26A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09FF4-4E82-4A98-B3E2-52ADA5B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AD2A4-437E-47B0-8871-45485802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481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DF6"/>
                </a:solidFill>
              </a:defRPr>
            </a:pPr>
            <a:r>
              <a:rPr sz="2100" b="1">
                <a:solidFill>
                  <a:srgbClr val="FFFDF6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70EB9-488C-45A8-A19F-D7920145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51D"/>
                </a:solidFill>
              </a:defRPr>
            </a:pPr>
            <a:r>
              <a:rPr sz="1500" b="1">
                <a:solidFill>
                  <a:srgbClr val="13251D"/>
                </a:solidFill>
              </a:rPr>
              <a:t>บันทึกกิจกรรม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89941-CCDA-4BF9-827F-0A31460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620531-2195-4B30-AB36-1E414CA2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14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B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EA1E8-6625-43FB-831C-ACADA4D3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481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51D"/>
                </a:solidFill>
              </a:defRPr>
            </a:pPr>
            <a:r>
              <a:rPr sz="2100" b="1">
                <a:solidFill>
                  <a:srgbClr val="13251D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34E8C-CCED-44A3-8791-C1D7E081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291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51D"/>
                </a:solidFill>
              </a:defRPr>
            </a:pPr>
            <a:r>
              <a:rPr sz="1500" b="1">
                <a:solidFill>
                  <a:srgbClr val="13251D"/>
                </a:solidFill>
              </a:rPr>
              <a:t>แชร์ QR</a:t>
            </a:r>
          </a:p>
        </p:txBody>
      </p:sp>
    </p:spTree>
    <p:extLst>
      <p:ext uri="{BB962C8B-B14F-4D97-AF65-F5344CB8AC3E}">
        <p14:creationId xmlns:p14="http://schemas.microsoft.com/office/powerpoint/2010/main" val="29470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A61C7-F8C1-483B-9CD4-3E1A9704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51D"/>
                </a:solidFill>
              </a:defRPr>
            </a:pPr>
            <a:r>
              <a:rPr sz="3150" b="1">
                <a:solidFill>
                  <a:srgbClr val="13251D"/>
                </a:solidFill>
              </a:rPr>
              <a:t>FARMULTIMATE ทำหน้าที่จัดข้อมูลไม่ให้ปนกัน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51E5D-5ADE-4C05-9068-A09AB4E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168"/>
                </a:solidFill>
              </a:defRPr>
            </a:pPr>
            <a:r>
              <a:rPr sz="1650" b="0">
                <a:solidFill>
                  <a:srgbClr val="627168"/>
                </a:solidFill>
              </a:rPr>
              <a:t>แกนหลักคือ แปลง + พืช + รอบปลูก แล้วผูกกิจกรรม ต้นทุน สต็อก และผลลัพธ์เข้าไปให้ถูกชุด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770E-8990-4825-9744-090C6E3A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19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47C51-6315-41BC-B928-39888AC6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7A543-247C-4312-94D4-100ABB85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</a:defRPr>
            </a:pPr>
            <a:r>
              <a:rPr sz="1650" b="1">
                <a:solidFill>
                  <a:srgbClr val="13251D"/>
                </a:solidFill>
              </a:rPr>
              <a:t>แปลง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B6CAB-51DF-4236-8723-650B2C41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168"/>
                </a:solidFill>
              </a:defRPr>
            </a:pPr>
            <a:r>
              <a:rPr sz="1125" b="0">
                <a:solidFill>
                  <a:srgbClr val="627168"/>
                </a:solidFill>
              </a:rPr>
              <a:t>พื้นที่จริงและขอบเขต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143DE-A35B-479F-82D3-5C7F50E8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219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33B7A-6C50-4635-B9C0-F86F6BD2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MODULE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31345-AF93-4D6F-96A8-2A723AA4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</a:defRPr>
            </a:pPr>
            <a:r>
              <a:rPr sz="1650" b="1">
                <a:solidFill>
                  <a:srgbClr val="13251D"/>
                </a:solidFill>
              </a:rPr>
              <a:t>พืช/รอบปลูก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3E198-099A-414E-A7FD-A19D7FE7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168"/>
                </a:solidFill>
              </a:defRPr>
            </a:pPr>
            <a:r>
              <a:rPr sz="1125" b="0">
                <a:solidFill>
                  <a:srgbClr val="627168"/>
                </a:solidFill>
              </a:rPr>
              <a:t>รุ่นที่กำลังติดตาม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11A45-5597-441C-8B02-75D3E474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3219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F430A-8829-4A81-8850-7861C31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MODULE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46472-977F-49A5-BB6D-3B09B28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</a:defRPr>
            </a:pPr>
            <a:r>
              <a:rPr sz="1650" b="1">
                <a:solidFill>
                  <a:srgbClr val="13251D"/>
                </a:solidFill>
              </a:rPr>
              <a:t>กิจกรรม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DB2AA-EC9C-407B-8903-3370FE0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168"/>
                </a:solidFill>
              </a:defRPr>
            </a:pPr>
            <a:r>
              <a:rPr sz="1125" b="0">
                <a:solidFill>
                  <a:srgbClr val="627168"/>
                </a:solidFill>
              </a:rPr>
              <a:t>ปลูก รดน้ำ ใส่ปุ๋ย พ่นยา เก็บเกี่ยว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A9C97-9CE1-4530-BAF4-98B2B178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219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79E4A-0EF7-45E6-8599-ADC098DB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MODULE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6F4CE-F754-4D16-A1D4-C3C2E393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</a:defRPr>
            </a:pPr>
            <a:r>
              <a:rPr sz="1650" b="1">
                <a:solidFill>
                  <a:srgbClr val="13251D"/>
                </a:solidFill>
              </a:rPr>
              <a:t>สต็อก/ต้นทุน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B83C7-F912-464F-879C-7C2CB88C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168"/>
                </a:solidFill>
              </a:defRPr>
            </a:pPr>
            <a:r>
              <a:rPr sz="1125" b="0">
                <a:solidFill>
                  <a:srgbClr val="627168"/>
                </a:solidFill>
              </a:rPr>
              <a:t>วัสดุ แรงงาน ค่าใช้จ่าย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2626D-D0D8-4886-A33A-6C1C9839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3219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19F67-05DD-4B22-A341-8A954146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10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MODULE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587E9-566D-4D4D-975B-C1636779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577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</a:defRPr>
            </a:pPr>
            <a:r>
              <a:rPr sz="1650" b="1">
                <a:solidFill>
                  <a:srgbClr val="13251D"/>
                </a:solidFill>
              </a:rPr>
              <a:t>อากาศ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0072F-276D-4332-808E-F895612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19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168"/>
                </a:solidFill>
              </a:defRPr>
            </a:pPr>
            <a:r>
              <a:rPr sz="1125" b="0">
                <a:solidFill>
                  <a:srgbClr val="627168"/>
                </a:solidFill>
              </a:rPr>
              <a:t>บริบทของการตัดสินใจ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A2753-8A18-4B49-8420-793286F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3219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FF271-BDFC-4537-8D57-52DB246C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MODULE 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D774FF-6DBB-4734-8EBB-2FB7A542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</a:defRPr>
            </a:pPr>
            <a:r>
              <a:rPr sz="1650" b="1">
                <a:solidFill>
                  <a:srgbClr val="13251D"/>
                </a:solidFill>
              </a:rPr>
              <a:t>Product Passport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A7960-B5AD-413E-923D-40F75C65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9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168"/>
                </a:solidFill>
              </a:defRPr>
            </a:pPr>
            <a:r>
              <a:rPr sz="1125" b="0">
                <a:solidFill>
                  <a:srgbClr val="627168"/>
                </a:solidFill>
              </a:rPr>
              <a:t>เรื่องราวที่แชร์ได้</a:t>
            </a:r>
          </a:p>
        </p:txBody>
      </p:sp>
    </p:spTree>
    <p:extLst>
      <p:ext uri="{BB962C8B-B14F-4D97-AF65-F5344CB8AC3E}">
        <p14:creationId xmlns:p14="http://schemas.microsoft.com/office/powerpoint/2010/main" val="1215224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D79B0-91FB-4DF6-8159-0168B3F8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1D"/>
                </a:solidFill>
              </a:defRPr>
            </a:pPr>
            <a:r>
              <a:rPr sz="3300" b="1">
                <a:solidFill>
                  <a:srgbClr val="13251D"/>
                </a:solidFill>
              </a:rPr>
              <a:t>แผนสอน 1 ชั่วโมง 30 นาที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B5531-8238-4E4E-9557-AD6CE7D1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6623"/>
                </a:solidFill>
              </a:defRPr>
            </a:pPr>
            <a:r>
              <a:rPr sz="1650" b="1">
                <a:solidFill>
                  <a:srgbClr val="8A6623"/>
                </a:solidFill>
              </a:rPr>
              <a:t>0-10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2413F-08DA-445D-AFD8-282709A9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85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51D"/>
                </a:solidFill>
              </a:defRPr>
            </a:pPr>
            <a:r>
              <a:rPr sz="1800" b="1">
                <a:solidFill>
                  <a:srgbClr val="13251D"/>
                </a:solidFill>
              </a:rPr>
              <a:t>เปิดภาพใหญ่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C84FC-6811-4B07-A2E7-BF565FA1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168"/>
                </a:solidFill>
              </a:defRPr>
            </a:pPr>
            <a:r>
              <a:rPr sz="1500" b="0">
                <a:solidFill>
                  <a:srgbClr val="627168"/>
                </a:solidFill>
              </a:rPr>
              <a:t>ถามว่าน้องเห็นอะไรจากภาพมุมสูง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A72C9-704E-44FB-8E08-5B36ADFE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330CE-5D50-4B29-8978-78C8DF47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6623"/>
                </a:solidFill>
              </a:defRPr>
            </a:pPr>
            <a:r>
              <a:rPr sz="1650" b="1">
                <a:solidFill>
                  <a:srgbClr val="8A6623"/>
                </a:solidFill>
              </a:rPr>
              <a:t>10-30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245DF-BA1C-45EF-BDD9-9BDA79A5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28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51D"/>
                </a:solidFill>
              </a:defRPr>
            </a:pPr>
            <a:r>
              <a:rPr sz="1800" b="1">
                <a:solidFill>
                  <a:srgbClr val="13251D"/>
                </a:solidFill>
              </a:rPr>
              <a:t>รู้จัก Mavic 3M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CD28A-35E0-4831-AD29-E6AC07A5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479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168"/>
                </a:solidFill>
              </a:defRPr>
            </a:pPr>
            <a:r>
              <a:rPr sz="1500" b="0">
                <a:solidFill>
                  <a:srgbClr val="627168"/>
                </a:solidFill>
              </a:rPr>
              <a:t>RGB, multispectral, RTK, การบินเป็นระบบ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F18E8-1EC7-4386-AD90-3888E8DF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BE360-CC58-47E1-AF20-033A8763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6623"/>
                </a:solidFill>
              </a:defRPr>
            </a:pPr>
            <a:r>
              <a:rPr sz="1650" b="1">
                <a:solidFill>
                  <a:srgbClr val="8A6623"/>
                </a:solidFill>
              </a:rPr>
              <a:t>30-50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8B3A0-4600-4605-8130-E1E1E2E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71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51D"/>
                </a:solidFill>
              </a:defRPr>
            </a:pPr>
            <a:r>
              <a:rPr sz="1800" b="1">
                <a:solidFill>
                  <a:srgbClr val="13251D"/>
                </a:solidFill>
              </a:rPr>
              <a:t>อ่าน NDVI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081C2-1FC3-49A9-9C88-10CCA967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168"/>
                </a:solidFill>
              </a:defRPr>
            </a:pPr>
            <a:r>
              <a:rPr sz="1500" b="0">
                <a:solidFill>
                  <a:srgbClr val="627168"/>
                </a:solidFill>
              </a:rPr>
              <a:t>แยกสี ตั้งสมมติฐาน และระวังการสรุปเร็ว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27CE9-22EF-4EAB-8424-CE0B066E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CA28D-0BB9-4F5B-B6A1-2E45CB70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6623"/>
                </a:solidFill>
              </a:defRPr>
            </a:pPr>
            <a:r>
              <a:rPr sz="1650" b="1">
                <a:solidFill>
                  <a:srgbClr val="8A6623"/>
                </a:solidFill>
              </a:rPr>
              <a:t>50-70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F5FB9-E674-4F60-A819-8605C1B0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51D"/>
                </a:solidFill>
              </a:defRPr>
            </a:pPr>
            <a:r>
              <a:rPr sz="1800" b="1">
                <a:solidFill>
                  <a:srgbClr val="13251D"/>
                </a:solidFill>
              </a:rPr>
              <a:t>เข้าโปรแกรม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6100F-97D9-4F04-874A-AF8B89FE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168"/>
                </a:solidFill>
              </a:defRPr>
            </a:pPr>
            <a:r>
              <a:rPr sz="1500" b="0">
                <a:solidFill>
                  <a:srgbClr val="627168"/>
                </a:solidFill>
              </a:rPr>
              <a:t>แปลง พืช รอบปลูก กิจกรรม ต้นทุน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CF163-00A8-4DC1-92AD-613F7E35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379AA-2DBF-4476-8B98-A7F43ED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6623"/>
                </a:solidFill>
              </a:defRPr>
            </a:pPr>
            <a:r>
              <a:rPr sz="1650" b="1">
                <a:solidFill>
                  <a:srgbClr val="8A6623"/>
                </a:solidFill>
              </a:rPr>
              <a:t>70-85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E7556-235B-49DC-907C-5BE46948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57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51D"/>
                </a:solidFill>
              </a:defRPr>
            </a:pPr>
            <a:r>
              <a:rPr sz="1800" b="1">
                <a:solidFill>
                  <a:srgbClr val="13251D"/>
                </a:solidFill>
              </a:rPr>
              <a:t>กิจกรรมกลุ่ม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BB12E-E57A-4A41-86EF-B51183B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168"/>
                </a:solidFill>
              </a:defRPr>
            </a:pPr>
            <a:r>
              <a:rPr sz="1500" b="0">
                <a:solidFill>
                  <a:srgbClr val="627168"/>
                </a:solidFill>
              </a:rPr>
              <a:t>เลือกจุดตรวจและเขียนแผนปฏิบัติ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401A1-CD9A-4541-86C7-253A77D1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71EB1-9B6F-4CD1-8A36-5F791A93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6623"/>
                </a:solidFill>
              </a:defRPr>
            </a:pPr>
            <a:r>
              <a:rPr sz="1650" b="1">
                <a:solidFill>
                  <a:srgbClr val="8A6623"/>
                </a:solidFill>
              </a:rPr>
              <a:t>85-90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279E9-E06C-41D2-A70F-61B50CF1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00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51D"/>
                </a:solidFill>
              </a:defRPr>
            </a:pPr>
            <a:r>
              <a:rPr sz="1800" b="1">
                <a:solidFill>
                  <a:srgbClr val="13251D"/>
                </a:solidFill>
              </a:rPr>
              <a:t>สรุป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CF0EC-FB1F-4571-9E89-C5B1D9A2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197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168"/>
                </a:solidFill>
              </a:defRPr>
            </a:pPr>
            <a:r>
              <a:rPr sz="1500" b="0">
                <a:solidFill>
                  <a:srgbClr val="627168"/>
                </a:solidFill>
              </a:rPr>
              <a:t>เห็นเร็ว ตัดสินใจแม่น บันทึกได้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2647A-8B36-4FCB-94B0-BF49F70F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45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3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11d90730c4dbd"/>
          <a:srcRect xmlns:a="http://schemas.openxmlformats.org/drawingml/2006/main" l="15163" t="0" r="151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666750"/>
            <a:ext cx="4800600" cy="485775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4670B-4933-4380-83C0-1B04ED96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6"/>
                </a:solidFill>
              </a:defRPr>
            </a:pPr>
            <a:r>
              <a:rPr sz="3300" b="1">
                <a:solidFill>
                  <a:srgbClr val="FFFDF6"/>
                </a:solidFill>
              </a:rPr>
              <a:t>กิจกรรมให้น้องทำ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65C64-AC1C-4285-BEE9-40883231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521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BE9DF"/>
                </a:solidFill>
              </a:defRPr>
            </a:pPr>
            <a:r>
              <a:rPr sz="1800" b="0">
                <a:solidFill>
                  <a:srgbClr val="DBE9DF"/>
                </a:solidFill>
              </a:rPr>
              <a:t>เลือก 1 จุดบนแผนที่ แล้วทำแผนตรวจภาคสนาม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E2598-BE20-4BE4-905D-1F447390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35C3F"/>
          </a:solidFill>
          <a:ln xmlns:a="http://schemas.openxmlformats.org/drawingml/2006/main" w="9525">
            <a:solidFill>
              <a:srgbClr val="4D806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B19BF-7685-462D-B9A5-779742B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DF6"/>
                </a:solidFill>
              </a:defRPr>
            </a:pPr>
            <a:r>
              <a:rPr sz="1425" b="0">
                <a:solidFill>
                  <a:srgbClr val="FFFDF6"/>
                </a:solidFill>
              </a:rPr>
              <a:t>1. จุดนี้อยู่สีอะไร และต่างจากพื้นที่รอบข้างอย่างไร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5F022-4BFE-42EE-84A3-877FBD0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35C3F"/>
          </a:solidFill>
          <a:ln xmlns:a="http://schemas.openxmlformats.org/drawingml/2006/main" w="9525">
            <a:solidFill>
              <a:srgbClr val="4D80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51402-606F-409B-BBF2-AD517CF4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DF6"/>
                </a:solidFill>
              </a:defRPr>
            </a:pPr>
            <a:r>
              <a:rPr sz="1425" b="0">
                <a:solidFill>
                  <a:srgbClr val="FFFDF6"/>
                </a:solidFill>
              </a:rPr>
              <a:t>2. ตั้งสมมติฐาน 2-3 ข้อ เช่น น้ำ ปุ๋ย โรค แมลง ดิน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B317A-2E49-4D0C-BAB8-36DB3EB0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35C3F"/>
          </a:solidFill>
          <a:ln xmlns:a="http://schemas.openxmlformats.org/drawingml/2006/main" w="9525">
            <a:solidFill>
              <a:srgbClr val="4D80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7F186-7D4B-4757-8A23-C3C311B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DF6"/>
                </a:solidFill>
              </a:defRPr>
            </a:pPr>
            <a:r>
              <a:rPr sz="1425" b="0">
                <a:solidFill>
                  <a:srgbClr val="FFFDF6"/>
                </a:solidFill>
              </a:rPr>
              <a:t>3. ต้องลงพื้นที่เก็บหลักฐานอะไรบ้าง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76831-AD4F-4DDD-8A35-B9B4BCDB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35C3F"/>
          </a:solidFill>
          <a:ln xmlns:a="http://schemas.openxmlformats.org/drawingml/2006/main" w="9525">
            <a:solidFill>
              <a:srgbClr val="4D80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A6A45-BDEB-483D-94D6-D9E088C8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DF6"/>
                </a:solidFill>
              </a:defRPr>
            </a:pPr>
            <a:r>
              <a:rPr sz="1425" b="0">
                <a:solidFill>
                  <a:srgbClr val="FFFDF6"/>
                </a:solidFill>
              </a:rPr>
              <a:t>4. ถ้าต้องบันทึกใน FARMULTIMATE จะใส่กิจกรรมอะไร</a:t>
            </a:r>
          </a:p>
        </p:txBody>
      </p:sp>
    </p:spTree>
    <p:extLst>
      <p:ext uri="{BB962C8B-B14F-4D97-AF65-F5344CB8AC3E}">
        <p14:creationId xmlns:p14="http://schemas.microsoft.com/office/powerpoint/2010/main" val="2057521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52BA7-AA80-4B53-80D7-1492D6A0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251D"/>
                </a:solidFill>
              </a:defRPr>
            </a:pPr>
            <a:r>
              <a:rPr sz="3600" b="1">
                <a:solidFill>
                  <a:srgbClr val="13251D"/>
                </a:solidFill>
              </a:rPr>
              <a:t>จำ 3 ประโยคนี้กลับบ้าน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DDCF2-D0C7-484B-9D84-29ED9F2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575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8807C-42C1-41C8-B4B5-A12ECACF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29BD7-3837-4429-80FE-B1C1BEB7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51D"/>
                </a:solidFill>
              </a:defRPr>
            </a:pPr>
            <a:r>
              <a:rPr sz="2025" b="1">
                <a:solidFill>
                  <a:srgbClr val="13251D"/>
                </a:solidFill>
              </a:rPr>
              <a:t>โดรนช่วยให้เห็นเร็ว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B0CCC-9497-4B17-B837-4A721CD2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168"/>
                </a:solidFill>
              </a:defRPr>
            </a:pPr>
            <a:r>
              <a:rPr sz="1350" b="0">
                <a:solidFill>
                  <a:srgbClr val="627168"/>
                </a:solidFill>
              </a:rPr>
              <a:t>แต่ภาพต้องถูกวางแผนและตีความอย่างระวัง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3CDC5-5F0C-40C7-91DB-510F3999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575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9D812-C871-4B48-8858-8E3FCF0E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907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25EB5-C378-4FF4-8704-0B061924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51D"/>
                </a:solidFill>
              </a:defRPr>
            </a:pPr>
            <a:r>
              <a:rPr sz="2025" b="1">
                <a:solidFill>
                  <a:srgbClr val="13251D"/>
                </a:solidFill>
              </a:rPr>
              <a:t>แผนที่ช่วยตั้งคำถาม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04F6F-A75A-4F63-A39F-EB9D459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168"/>
                </a:solidFill>
              </a:defRPr>
            </a:pPr>
            <a:r>
              <a:rPr sz="1350" b="0">
                <a:solidFill>
                  <a:srgbClr val="627168"/>
                </a:solidFill>
              </a:rPr>
              <a:t>สีคือจุดเริ่มต้น ต้องตรวจภาคสนามเพื่อหาสาเหตุ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A4E75-37E1-4810-AAF6-3F61198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575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D9D4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65C22-B807-44C1-B69B-1E07993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6623"/>
                </a:solidFill>
              </a:defRPr>
            </a:pPr>
            <a:r>
              <a:rPr sz="975" b="1">
                <a:solidFill>
                  <a:srgbClr val="8A6623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0DB2B-BFFB-45F9-9037-4B3B9215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51D"/>
                </a:solidFill>
              </a:defRPr>
            </a:pPr>
            <a:r>
              <a:rPr sz="2025" b="1">
                <a:solidFill>
                  <a:srgbClr val="13251D"/>
                </a:solidFill>
              </a:rPr>
              <a:t>โปรแกรมช่วยจำ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29C62-47AC-4A23-A2D5-6C00C22C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168"/>
                </a:solidFill>
              </a:defRPr>
            </a:pPr>
            <a:r>
              <a:rPr sz="1350" b="0">
                <a:solidFill>
                  <a:srgbClr val="627168"/>
                </a:solidFill>
              </a:rPr>
              <a:t>แยกแปลง พืช รอบปลูก และกิจกรรมให้กลายเป็นหลักฐาน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DA943-8513-4B0E-882B-65A01D17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5C3F"/>
                </a:solidFill>
              </a:defRPr>
            </a:pPr>
            <a:r>
              <a:rPr sz="1800" b="1">
                <a:solidFill>
                  <a:srgbClr val="235C3F"/>
                </a:solidFill>
              </a:rPr>
              <a:t>FARMULTIMATE = ระบบที่ทำให้เรื่องราวของแปลงปลูกไม่หายไปกับเวลา</a:t>
            </a:r>
          </a:p>
        </p:txBody>
      </p:sp>
    </p:spTree>
    <p:extLst>
      <p:ext uri="{BB962C8B-B14F-4D97-AF65-F5344CB8AC3E}">
        <p14:creationId xmlns:p14="http://schemas.microsoft.com/office/powerpoint/2010/main" val="1702382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2026-08-27T01:39:09.6200000Z</dcterms:created>
  <dcterms:modified xsi:type="dcterms:W3CDTF">2026-08-27T01:39:09.6200000Z</dcterms:modified>
</coreProperties>
</file>